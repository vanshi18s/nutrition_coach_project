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embeddedFontLst>
    <p:embeddedFont>
      <p:font typeface="Calibri (MS) Bold" charset="1" panose="020F0702030404030204"/>
      <p:regular r:id="rId17"/>
    </p:embeddedFont>
    <p:embeddedFont>
      <p:font typeface="Calibri (MS)" charset="1" panose="020F0502020204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2318997" cy="6983482"/>
          </a:xfrm>
          <a:custGeom>
            <a:avLst/>
            <a:gdLst/>
            <a:ahLst/>
            <a:cxnLst/>
            <a:rect r="r" b="b" t="t" l="l"/>
            <a:pathLst>
              <a:path h="6983482" w="12318997">
                <a:moveTo>
                  <a:pt x="0" y="0"/>
                </a:moveTo>
                <a:lnTo>
                  <a:pt x="12318997" y="0"/>
                </a:lnTo>
                <a:lnTo>
                  <a:pt x="12318997" y="6983482"/>
                </a:lnTo>
                <a:lnTo>
                  <a:pt x="0" y="6983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588" y="437388"/>
            <a:ext cx="3035808" cy="2980944"/>
            <a:chOff x="0" y="0"/>
            <a:chExt cx="4047744" cy="39745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47744" cy="3974592"/>
            </a:xfrm>
            <a:custGeom>
              <a:avLst/>
              <a:gdLst/>
              <a:ahLst/>
              <a:cxnLst/>
              <a:rect r="r" b="b" t="t" l="l"/>
              <a:pathLst>
                <a:path h="3974592" w="4047744">
                  <a:moveTo>
                    <a:pt x="0" y="0"/>
                  </a:moveTo>
                  <a:lnTo>
                    <a:pt x="4047744" y="0"/>
                  </a:lnTo>
                  <a:lnTo>
                    <a:pt x="4047744" y="3974592"/>
                  </a:lnTo>
                  <a:lnTo>
                    <a:pt x="0" y="3974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3997709" y="475907"/>
            <a:ext cx="1507093" cy="361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b="true" sz="1895">
                <a:solidFill>
                  <a:srgbClr val="0033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TERM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546" y="4021979"/>
            <a:ext cx="2855862" cy="25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331">
                <a:solidFill>
                  <a:srgbClr val="003366"/>
                </a:solidFill>
                <a:latin typeface="Calibri (MS)"/>
                <a:ea typeface="Calibri (MS)"/>
                <a:cs typeface="Calibri (MS)"/>
                <a:sym typeface="Calibri (MS)"/>
              </a:rPr>
              <a:t>Indian Institute of TechnologyGuwahati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962" y="5235197"/>
            <a:ext cx="3059220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003366"/>
                </a:solidFill>
                <a:latin typeface="Calibri (MS)"/>
                <a:ea typeface="Calibri (MS)"/>
                <a:cs typeface="Calibri (MS)"/>
                <a:sym typeface="Calibri (MS)"/>
              </a:rPr>
              <a:t>BSc. (Hons.) Data Science &amp; Artificial Intelligence Online Degree Programme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94760" y="2968495"/>
            <a:ext cx="1506293" cy="2733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1800">
                <a:solidFill>
                  <a:srgbClr val="C8960C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Name : Student ID : Email ID : Programme : Course Code : Course Name : Trimester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72457" y="2968495"/>
            <a:ext cx="2846327" cy="391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Vanshi Sethi</a:t>
            </a:r>
          </a:p>
          <a:p>
            <a:pPr algn="l">
              <a:lnSpc>
                <a:spcPts val="3079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23035010020</a:t>
            </a:r>
          </a:p>
          <a:p>
            <a:pPr algn="l">
              <a:lnSpc>
                <a:spcPts val="3079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s.vanshi@op.iitg.ac.in</a:t>
            </a:r>
          </a:p>
          <a:p>
            <a:pPr algn="l">
              <a:lnSpc>
                <a:spcPts val="3079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BSc. (Hons.) Data Science &amp; AI </a:t>
            </a:r>
          </a:p>
          <a:p>
            <a:pPr algn="l">
              <a:lnSpc>
                <a:spcPts val="3079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DA 378</a:t>
            </a:r>
          </a:p>
          <a:p>
            <a:pPr algn="l">
              <a:lnSpc>
                <a:spcPts val="3079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Internship-2/Term Project-2</a:t>
            </a:r>
          </a:p>
          <a:p>
            <a:pPr algn="l">
              <a:lnSpc>
                <a:spcPts val="3079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VIII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653028" y="1254481"/>
            <a:ext cx="8538972" cy="136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7"/>
              </a:lnSpc>
            </a:pPr>
            <a:r>
              <a:rPr lang="en-US" sz="369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Nutrition Coach: A Multimodal Indian Food Nutrition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5316" y="31171"/>
            <a:ext cx="1719620" cy="82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7"/>
              </a:lnSpc>
            </a:pPr>
            <a:r>
              <a:rPr lang="en-US" b="true" sz="4298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5249" y="983034"/>
            <a:ext cx="8824990" cy="4471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090" indent="-247045" lvl="1">
              <a:lnSpc>
                <a:spcPts val="3915"/>
              </a:lnSpc>
              <a:buFont typeface="Arial"/>
              <a:buChar char="•"/>
            </a:pPr>
            <a:r>
              <a:rPr lang="en-US" b="true" sz="2288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Context:</a:t>
            </a:r>
            <a:r>
              <a:rPr lang="en-US" sz="228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The challenge of dietary tracking for Indian cuisine.</a:t>
            </a:r>
          </a:p>
          <a:p>
            <a:pPr algn="l" marL="494090" indent="-247045" lvl="1">
              <a:lnSpc>
                <a:spcPts val="3915"/>
              </a:lnSpc>
              <a:buFont typeface="Arial"/>
              <a:buChar char="•"/>
            </a:pPr>
            <a:r>
              <a:rPr lang="en-US" b="true" sz="2288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Solution:</a:t>
            </a:r>
            <a:r>
              <a:rPr lang="en-US" sz="228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Nutrition Coach System Overview.</a:t>
            </a:r>
          </a:p>
          <a:p>
            <a:pPr algn="l" marL="494090" indent="-247045" lvl="1">
              <a:lnSpc>
                <a:spcPts val="3915"/>
              </a:lnSpc>
              <a:buFont typeface="Arial"/>
              <a:buChar char="•"/>
            </a:pPr>
            <a:r>
              <a:rPr lang="en-US" b="true" sz="2288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 &amp; Preprocessing:</a:t>
            </a:r>
            <a:r>
              <a:rPr lang="en-US" sz="228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Merging standalone and composite meal data.</a:t>
            </a:r>
          </a:p>
          <a:p>
            <a:pPr algn="l" marL="494090" indent="-247045" lvl="1">
              <a:lnSpc>
                <a:spcPts val="3915"/>
              </a:lnSpc>
              <a:buFont typeface="Arial"/>
              <a:buChar char="•"/>
            </a:pPr>
            <a:r>
              <a:rPr lang="en-US" b="true" sz="2288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Methodology:</a:t>
            </a:r>
            <a:r>
              <a:rPr lang="en-US" sz="228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YOLOv8 Detection, Nutrition DB, &amp; Recommendation Engine.</a:t>
            </a:r>
          </a:p>
          <a:p>
            <a:pPr algn="l" marL="494090" indent="-247045" lvl="1">
              <a:lnSpc>
                <a:spcPts val="3915"/>
              </a:lnSpc>
              <a:buFont typeface="Arial"/>
              <a:buChar char="•"/>
            </a:pPr>
            <a:r>
              <a:rPr lang="en-US" b="true" sz="2288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  <a:r>
              <a:rPr lang="en-US" b="true" sz="2288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  <a:r>
              <a:rPr lang="en-US" sz="228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Detection metrics &amp; pipeline evaluation.</a:t>
            </a:r>
          </a:p>
          <a:p>
            <a:pPr algn="l" marL="494090" indent="-247045" lvl="1">
              <a:lnSpc>
                <a:spcPts val="3915"/>
              </a:lnSpc>
              <a:buFont typeface="Arial"/>
              <a:buChar char="•"/>
            </a:pPr>
            <a:r>
              <a:rPr lang="en-US" b="true" sz="2288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Demo :</a:t>
            </a:r>
            <a:r>
              <a:rPr lang="en-US" sz="228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Code repository and live demonstration.</a:t>
            </a:r>
          </a:p>
          <a:p>
            <a:pPr algn="l">
              <a:lnSpc>
                <a:spcPts val="391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6423" y="108537"/>
            <a:ext cx="10337126" cy="158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7"/>
              </a:lnSpc>
            </a:pPr>
            <a:r>
              <a:rPr lang="en-US" sz="429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Problem – Why Indian Food is Hard for AI</a:t>
            </a:r>
          </a:p>
          <a:p>
            <a:pPr algn="l">
              <a:lnSpc>
                <a:spcPts val="601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866423" y="1165145"/>
            <a:ext cx="9599339" cy="430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3421"/>
              </a:lnSpc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Health Crisis: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Rising rates of diabetes, hypertension, and obesity in India directly linked to dietary habits.</a:t>
            </a:r>
          </a:p>
          <a:p>
            <a:pPr algn="just" marL="431799" indent="-215899" lvl="1">
              <a:lnSpc>
                <a:spcPts val="3421"/>
              </a:lnSpc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App Gap: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Existing nutrition apps (e.g., MyFitnessPal) are generic and need to add calories and portions manually.</a:t>
            </a:r>
          </a:p>
          <a:p>
            <a:pPr algn="just" marL="431799" indent="-215899" lvl="1">
              <a:lnSpc>
                <a:spcPts val="3421"/>
              </a:lnSpc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Indian Food Challenge:</a:t>
            </a:r>
          </a:p>
          <a:p>
            <a:pPr algn="just" marL="863598" indent="-287866" lvl="2">
              <a:lnSpc>
                <a:spcPts val="3421"/>
              </a:lnSpc>
              <a:buFont typeface="Arial"/>
              <a:buChar char="⚬"/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Composite Meals ('Thalis'):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A single plate contains 5-7 overlapping, interacting food items (e.g., dal, rice, roti, sabzi, raita).</a:t>
            </a:r>
          </a:p>
          <a:p>
            <a:pPr algn="just" marL="863598" indent="-287866" lvl="2">
              <a:lnSpc>
                <a:spcPts val="3421"/>
              </a:lnSpc>
              <a:buFont typeface="Arial"/>
              <a:buChar char="⚬"/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Scarcity: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No large-scale public dataset exists with both bounding-box annotations and verified Indian nutritional data.</a:t>
            </a:r>
          </a:p>
          <a:p>
            <a:pPr algn="just">
              <a:lnSpc>
                <a:spcPts val="342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23013" y="858679"/>
            <a:ext cx="5366892" cy="5999321"/>
          </a:xfrm>
          <a:custGeom>
            <a:avLst/>
            <a:gdLst/>
            <a:ahLst/>
            <a:cxnLst/>
            <a:rect r="r" b="b" t="t" l="l"/>
            <a:pathLst>
              <a:path h="5999321" w="5366892">
                <a:moveTo>
                  <a:pt x="0" y="0"/>
                </a:moveTo>
                <a:lnTo>
                  <a:pt x="5366893" y="0"/>
                </a:lnTo>
                <a:lnTo>
                  <a:pt x="5366893" y="5999321"/>
                </a:lnTo>
                <a:lnTo>
                  <a:pt x="0" y="5999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1189" y="170897"/>
            <a:ext cx="7975164" cy="158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7"/>
              </a:lnSpc>
            </a:pPr>
            <a:r>
              <a:rPr lang="en-US" sz="429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Solution – System Architecture</a:t>
            </a:r>
          </a:p>
          <a:p>
            <a:pPr algn="l">
              <a:lnSpc>
                <a:spcPts val="601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27328" y="1025876"/>
            <a:ext cx="7365940" cy="563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04549" indent="-202274" lvl="1">
              <a:lnSpc>
                <a:spcPts val="3206"/>
              </a:lnSpc>
              <a:buFont typeface="Arial"/>
              <a:buChar char="•"/>
            </a:pPr>
            <a:r>
              <a:rPr lang="en-US" b="true" sz="187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Input:</a:t>
            </a:r>
            <a:r>
              <a:rPr lang="en-US" sz="187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User uploads a photo of an Indian meal (Thali or standalone).</a:t>
            </a:r>
          </a:p>
          <a:p>
            <a:pPr algn="just" marL="404549" indent="-202274" lvl="1">
              <a:lnSpc>
                <a:spcPts val="3206"/>
              </a:lnSpc>
              <a:buFont typeface="Arial"/>
              <a:buChar char="•"/>
            </a:pPr>
            <a:r>
              <a:rPr lang="en-US" b="true" sz="187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Detection (YOLOv8):</a:t>
            </a:r>
            <a:r>
              <a:rPr lang="en-US" sz="187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Model detects and localizes each food item (e.g., "Gulab Jamun" at x,y coordinates).</a:t>
            </a:r>
          </a:p>
          <a:p>
            <a:pPr algn="just" marL="404549" indent="-202274" lvl="1">
              <a:lnSpc>
                <a:spcPts val="3206"/>
              </a:lnSpc>
              <a:buFont typeface="Arial"/>
              <a:buChar char="•"/>
            </a:pPr>
            <a:r>
              <a:rPr lang="en-US" b="true" sz="187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Portion Estimation:</a:t>
            </a:r>
            <a:r>
              <a:rPr lang="en-US" sz="187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Bounding box area is converted to an approximate portion weight (grams).</a:t>
            </a:r>
          </a:p>
          <a:p>
            <a:pPr algn="just" marL="404549" indent="-202274" lvl="1">
              <a:lnSpc>
                <a:spcPts val="3206"/>
              </a:lnSpc>
              <a:buFont typeface="Arial"/>
              <a:buChar char="•"/>
            </a:pPr>
            <a:r>
              <a:rPr lang="en-US" b="true" sz="187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Nutrition Lookup:</a:t>
            </a:r>
            <a:r>
              <a:rPr lang="en-US" sz="187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System queries a curated ICMR-NIN based database for macros &amp; micros.</a:t>
            </a:r>
          </a:p>
          <a:p>
            <a:pPr algn="just" marL="404549" indent="-202274" lvl="1">
              <a:lnSpc>
                <a:spcPts val="3206"/>
              </a:lnSpc>
              <a:buFont typeface="Arial"/>
              <a:buChar char="•"/>
            </a:pPr>
            <a:r>
              <a:rPr lang="en-US" b="true" sz="187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Restriction Engine:</a:t>
            </a:r>
            <a:r>
              <a:rPr lang="en-US" sz="187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Checks detected items against 20+ health conditions (e.g., Diabetes, Hypertension).</a:t>
            </a:r>
          </a:p>
          <a:p>
            <a:pPr algn="just" marL="404549" indent="-202274" lvl="1">
              <a:lnSpc>
                <a:spcPts val="3206"/>
              </a:lnSpc>
              <a:buFont typeface="Arial"/>
              <a:buChar char="•"/>
            </a:pPr>
            <a:r>
              <a:rPr lang="en-US" b="true" sz="187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Output:</a:t>
            </a:r>
            <a:r>
              <a:rPr lang="en-US" sz="187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User receives:</a:t>
            </a:r>
          </a:p>
          <a:p>
            <a:pPr algn="just" marL="404549" indent="-202274" lvl="1">
              <a:lnSpc>
                <a:spcPts val="3206"/>
              </a:lnSpc>
              <a:buFont typeface="Arial"/>
              <a:buChar char="•"/>
            </a:pPr>
            <a:r>
              <a:rPr lang="en-US" sz="187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Total Calories, Protein, Fat, Carbs.</a:t>
            </a:r>
          </a:p>
          <a:p>
            <a:pPr algn="just" marL="404549" indent="-202274" lvl="1">
              <a:lnSpc>
                <a:spcPts val="3206"/>
              </a:lnSpc>
              <a:buFont typeface="Arial"/>
              <a:buChar char="•"/>
            </a:pPr>
            <a:r>
              <a:rPr lang="en-US" sz="187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Health risk flags (e.g., "High sugar detected for Diabetes").</a:t>
            </a:r>
          </a:p>
          <a:p>
            <a:pPr algn="just" marL="404549" indent="-202274" lvl="1">
              <a:lnSpc>
                <a:spcPts val="3206"/>
              </a:lnSpc>
              <a:buFont typeface="Arial"/>
              <a:buChar char="•"/>
            </a:pPr>
            <a:r>
              <a:rPr lang="en-US" sz="187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Top-3 healthier swap recommendations.</a:t>
            </a:r>
          </a:p>
          <a:p>
            <a:pPr algn="just">
              <a:lnSpc>
                <a:spcPts val="320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98197"/>
            <a:ext cx="6070997" cy="158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7"/>
              </a:lnSpc>
            </a:pPr>
            <a:r>
              <a:rPr lang="en-US" sz="429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Tools &amp; Technologies Used</a:t>
            </a:r>
          </a:p>
          <a:p>
            <a:pPr algn="l">
              <a:lnSpc>
                <a:spcPts val="601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57301" y="1109784"/>
            <a:ext cx="9599339" cy="345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3421"/>
              </a:lnSpc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Programming: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Python 3.10</a:t>
            </a:r>
          </a:p>
          <a:p>
            <a:pPr algn="just" marL="431799" indent="-215899" lvl="1">
              <a:lnSpc>
                <a:spcPts val="3421"/>
              </a:lnSpc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Deep Learning Framework: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PyTorch 2.x, Ultralytics YOLOv8 (nano variant)</a:t>
            </a:r>
          </a:p>
          <a:p>
            <a:pPr algn="just" marL="431799" indent="-215899" lvl="1">
              <a:lnSpc>
                <a:spcPts val="3421"/>
              </a:lnSpc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Environment: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Google Colab (NVIDIA T4 GPU, 16GB VRAM)</a:t>
            </a:r>
          </a:p>
          <a:p>
            <a:pPr algn="just" marL="431799" indent="-215899" lvl="1">
              <a:lnSpc>
                <a:spcPts val="3421"/>
              </a:lnSpc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Libraries:</a:t>
            </a:r>
          </a:p>
          <a:p>
            <a:pPr algn="just" marL="431799" indent="-215899" lvl="1">
              <a:lnSpc>
                <a:spcPts val="3421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pandas, numpy (Data processing)</a:t>
            </a:r>
          </a:p>
          <a:p>
            <a:pPr algn="just" marL="431799" indent="-215899" lvl="1">
              <a:lnSpc>
                <a:spcPts val="3421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Rapid 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fuzz (Fuzzy string matching for nutrition lookup)</a:t>
            </a:r>
          </a:p>
          <a:p>
            <a:pPr algn="just" marL="431799" indent="-215899" lvl="1">
              <a:lnSpc>
                <a:spcPts val="3421"/>
              </a:lnSpc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Version Control: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GitHub</a:t>
            </a:r>
          </a:p>
          <a:p>
            <a:pPr algn="just">
              <a:lnSpc>
                <a:spcPts val="3421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17451" y="2716685"/>
            <a:ext cx="1844705" cy="1844705"/>
          </a:xfrm>
          <a:custGeom>
            <a:avLst/>
            <a:gdLst/>
            <a:ahLst/>
            <a:cxnLst/>
            <a:rect r="r" b="b" t="t" l="l"/>
            <a:pathLst>
              <a:path h="1844705" w="1844705">
                <a:moveTo>
                  <a:pt x="0" y="0"/>
                </a:moveTo>
                <a:lnTo>
                  <a:pt x="1844705" y="0"/>
                </a:lnTo>
                <a:lnTo>
                  <a:pt x="1844705" y="1844706"/>
                </a:lnTo>
                <a:lnTo>
                  <a:pt x="0" y="184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13296" y="5023395"/>
            <a:ext cx="2592904" cy="1363365"/>
          </a:xfrm>
          <a:custGeom>
            <a:avLst/>
            <a:gdLst/>
            <a:ahLst/>
            <a:cxnLst/>
            <a:rect r="r" b="b" t="t" l="l"/>
            <a:pathLst>
              <a:path h="1363365" w="2592904">
                <a:moveTo>
                  <a:pt x="0" y="0"/>
                </a:moveTo>
                <a:lnTo>
                  <a:pt x="2592904" y="0"/>
                </a:lnTo>
                <a:lnTo>
                  <a:pt x="2592904" y="1363365"/>
                </a:lnTo>
                <a:lnTo>
                  <a:pt x="0" y="1363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73407" y="269647"/>
            <a:ext cx="2132793" cy="1803734"/>
          </a:xfrm>
          <a:custGeom>
            <a:avLst/>
            <a:gdLst/>
            <a:ahLst/>
            <a:cxnLst/>
            <a:rect r="r" b="b" t="t" l="l"/>
            <a:pathLst>
              <a:path h="1803734" w="2132793">
                <a:moveTo>
                  <a:pt x="0" y="0"/>
                </a:moveTo>
                <a:lnTo>
                  <a:pt x="2132793" y="0"/>
                </a:lnTo>
                <a:lnTo>
                  <a:pt x="2132793" y="1803733"/>
                </a:lnTo>
                <a:lnTo>
                  <a:pt x="0" y="1803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88799" y="4561391"/>
            <a:ext cx="2990052" cy="1989743"/>
          </a:xfrm>
          <a:custGeom>
            <a:avLst/>
            <a:gdLst/>
            <a:ahLst/>
            <a:cxnLst/>
            <a:rect r="r" b="b" t="t" l="l"/>
            <a:pathLst>
              <a:path h="1989743" w="2990052">
                <a:moveTo>
                  <a:pt x="0" y="0"/>
                </a:moveTo>
                <a:lnTo>
                  <a:pt x="2990051" y="0"/>
                </a:lnTo>
                <a:lnTo>
                  <a:pt x="2990051" y="1989743"/>
                </a:lnTo>
                <a:lnTo>
                  <a:pt x="0" y="19897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912225" y="4643577"/>
            <a:ext cx="2664053" cy="1825370"/>
          </a:xfrm>
          <a:custGeom>
            <a:avLst/>
            <a:gdLst/>
            <a:ahLst/>
            <a:cxnLst/>
            <a:rect r="r" b="b" t="t" l="l"/>
            <a:pathLst>
              <a:path h="1825370" w="2664053">
                <a:moveTo>
                  <a:pt x="0" y="0"/>
                </a:moveTo>
                <a:lnTo>
                  <a:pt x="2664053" y="0"/>
                </a:lnTo>
                <a:lnTo>
                  <a:pt x="2664053" y="1825370"/>
                </a:lnTo>
                <a:lnTo>
                  <a:pt x="0" y="18253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1483014"/>
            <a:ext cx="8788978" cy="3880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3421"/>
              </a:lnSpc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Source: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Kaggle Rasoi Challenge (Public Dataset)</a:t>
            </a:r>
          </a:p>
          <a:p>
            <a:pPr algn="just" marL="431799" indent="-215899" lvl="1">
              <a:lnSpc>
                <a:spcPts val="3421"/>
              </a:lnSpc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Structure: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Two complementary subsets merged into one.</a:t>
            </a:r>
          </a:p>
          <a:p>
            <a:pPr algn="just" marL="863598" indent="-287866" lvl="2">
              <a:lnSpc>
                <a:spcPts val="3421"/>
              </a:lnSpc>
              <a:buFont typeface="Arial"/>
              <a:buChar char="⚬"/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Standalone Recipes: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127 images, 55 classes (Single dish per image).</a:t>
            </a:r>
          </a:p>
          <a:p>
            <a:pPr algn="just" marL="863598" indent="-287866" lvl="2">
              <a:lnSpc>
                <a:spcPts val="3421"/>
              </a:lnSpc>
              <a:buFont typeface="Arial"/>
              <a:buChar char="⚬"/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Composite Thali: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143 images, 628 bounding-box annotations, 75-85 classes (Multiple dishes per image).</a:t>
            </a:r>
          </a:p>
          <a:p>
            <a:pPr algn="just" marL="431799" indent="-215899" lvl="1">
              <a:lnSpc>
                <a:spcPts val="3421"/>
              </a:lnSpc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Total Merged Dataset: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270 Images, 755 Total Annotations, 75-85 Unique Indian Food Classes.</a:t>
            </a:r>
          </a:p>
          <a:p>
            <a:pPr algn="just" marL="431799" indent="-215899" lvl="1">
              <a:lnSpc>
                <a:spcPts val="3421"/>
              </a:lnSpc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Annotation Format: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VGG JSON (Converted to YOLO format: cx, cy, w, h).</a:t>
            </a:r>
          </a:p>
          <a:p>
            <a:pPr algn="just">
              <a:lnSpc>
                <a:spcPts val="3421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871489" y="514350"/>
            <a:ext cx="8417600" cy="158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7"/>
              </a:lnSpc>
            </a:pPr>
            <a:r>
              <a:rPr lang="en-US" sz="429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 – The Kaggle Rasoi Challenge</a:t>
            </a:r>
          </a:p>
          <a:p>
            <a:pPr algn="l">
              <a:lnSpc>
                <a:spcPts val="601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141516"/>
            <a:ext cx="8253412" cy="158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7"/>
              </a:lnSpc>
            </a:pPr>
            <a:r>
              <a:rPr lang="en-US" sz="429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Preprocessing &amp; Augmentation</a:t>
            </a:r>
          </a:p>
          <a:p>
            <a:pPr algn="l">
              <a:lnSpc>
                <a:spcPts val="601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89648" y="1565862"/>
            <a:ext cx="10910074" cy="351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4157" indent="-252079" lvl="1">
              <a:lnSpc>
                <a:spcPts val="3995"/>
              </a:lnSpc>
              <a:buFont typeface="Arial"/>
              <a:buChar char="•"/>
            </a:pPr>
            <a:r>
              <a:rPr lang="en-US" b="true" sz="233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Cleaning:</a:t>
            </a:r>
            <a:r>
              <a:rPr lang="en-US" sz="233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Lowercased all class labels, stripped whitespace, standardized synonyms (e.g., "Gulab Jamun" vs "Gulabjamun").</a:t>
            </a:r>
          </a:p>
          <a:p>
            <a:pPr algn="just" marL="504157" indent="-252079" lvl="1">
              <a:lnSpc>
                <a:spcPts val="3995"/>
              </a:lnSpc>
              <a:buFont typeface="Arial"/>
              <a:buChar char="•"/>
            </a:pPr>
            <a:r>
              <a:rPr lang="en-US" b="true" sz="233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Normalization:</a:t>
            </a:r>
            <a:r>
              <a:rPr lang="en-US" sz="233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Converted absolute bounding box coordinates to relative YOLO format (center_x, center_y, width, height).</a:t>
            </a:r>
          </a:p>
          <a:p>
            <a:pPr algn="just" marL="504157" indent="-252079" lvl="1">
              <a:lnSpc>
                <a:spcPts val="3995"/>
              </a:lnSpc>
              <a:buFont typeface="Arial"/>
              <a:buChar char="•"/>
            </a:pPr>
            <a:r>
              <a:rPr lang="en-US" b="true" sz="233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 Mapping:</a:t>
            </a:r>
            <a:r>
              <a:rPr lang="en-US" sz="233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Built a unified vocabulary of all classes by merging both subsets.</a:t>
            </a:r>
          </a:p>
          <a:p>
            <a:pPr algn="just" marL="504157" indent="-252079" lvl="1">
              <a:lnSpc>
                <a:spcPts val="3995"/>
              </a:lnSpc>
              <a:buFont typeface="Arial"/>
              <a:buChar char="•"/>
            </a:pPr>
            <a:r>
              <a:rPr lang="en-US" b="true" sz="233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Train/Validation Split:</a:t>
            </a:r>
            <a:r>
              <a:rPr lang="en-US" sz="233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80% Training / 20% Validation.</a:t>
            </a:r>
          </a:p>
          <a:p>
            <a:pPr algn="just">
              <a:lnSpc>
                <a:spcPts val="399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55966" y="3607057"/>
            <a:ext cx="4809699" cy="2963977"/>
          </a:xfrm>
          <a:custGeom>
            <a:avLst/>
            <a:gdLst/>
            <a:ahLst/>
            <a:cxnLst/>
            <a:rect r="r" b="b" t="t" l="l"/>
            <a:pathLst>
              <a:path h="2963977" w="4809699">
                <a:moveTo>
                  <a:pt x="0" y="0"/>
                </a:moveTo>
                <a:lnTo>
                  <a:pt x="4809699" y="0"/>
                </a:lnTo>
                <a:lnTo>
                  <a:pt x="4809699" y="2963977"/>
                </a:lnTo>
                <a:lnTo>
                  <a:pt x="0" y="296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2826" y="3666432"/>
            <a:ext cx="4976714" cy="3035795"/>
          </a:xfrm>
          <a:custGeom>
            <a:avLst/>
            <a:gdLst/>
            <a:ahLst/>
            <a:cxnLst/>
            <a:rect r="r" b="b" t="t" l="l"/>
            <a:pathLst>
              <a:path h="3035795" w="4976714">
                <a:moveTo>
                  <a:pt x="0" y="0"/>
                </a:moveTo>
                <a:lnTo>
                  <a:pt x="4976714" y="0"/>
                </a:lnTo>
                <a:lnTo>
                  <a:pt x="4976714" y="3035795"/>
                </a:lnTo>
                <a:lnTo>
                  <a:pt x="0" y="30357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1834" y="68816"/>
            <a:ext cx="6562963" cy="158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7"/>
              </a:lnSpc>
            </a:pPr>
            <a:r>
              <a:rPr lang="en-US" sz="429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– YOLOv8 Fine-Tuning</a:t>
            </a:r>
          </a:p>
          <a:p>
            <a:pPr algn="l">
              <a:lnSpc>
                <a:spcPts val="6017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61834" y="795277"/>
            <a:ext cx="11603831" cy="329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3348" indent="-236674" lvl="1">
              <a:lnSpc>
                <a:spcPts val="3751"/>
              </a:lnSpc>
              <a:buFont typeface="Arial"/>
              <a:buChar char="•"/>
            </a:pPr>
            <a:r>
              <a:rPr lang="en-US" b="true" sz="219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Cleaning:</a:t>
            </a:r>
            <a:r>
              <a:rPr lang="en-US" sz="219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Lowercased all class labels, stripped whitespace, standardized synonyms (e.g., "Gulab Jamun" vs "Gulabjamun").</a:t>
            </a:r>
          </a:p>
          <a:p>
            <a:pPr algn="just" marL="473348" indent="-236674" lvl="1">
              <a:lnSpc>
                <a:spcPts val="3751"/>
              </a:lnSpc>
              <a:buFont typeface="Arial"/>
              <a:buChar char="•"/>
            </a:pPr>
            <a:r>
              <a:rPr lang="en-US" b="true" sz="219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Normalization:</a:t>
            </a:r>
            <a:r>
              <a:rPr lang="en-US" sz="219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Converted absolute bounding box coordinates to relative YOLO format (center_x, center_y, width, height).</a:t>
            </a:r>
          </a:p>
          <a:p>
            <a:pPr algn="just" marL="473348" indent="-236674" lvl="1">
              <a:lnSpc>
                <a:spcPts val="3751"/>
              </a:lnSpc>
              <a:buFont typeface="Arial"/>
              <a:buChar char="•"/>
            </a:pPr>
            <a:r>
              <a:rPr lang="en-US" b="true" sz="219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 Mapping:</a:t>
            </a:r>
            <a:r>
              <a:rPr lang="en-US" sz="219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Built a unified vocabulary of all classes by merging both subsets.</a:t>
            </a:r>
          </a:p>
          <a:p>
            <a:pPr algn="just" marL="473348" indent="-236674" lvl="1">
              <a:lnSpc>
                <a:spcPts val="3751"/>
              </a:lnSpc>
              <a:buFont typeface="Arial"/>
              <a:buChar char="•"/>
            </a:pPr>
            <a:r>
              <a:rPr lang="en-US" b="true" sz="219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Train/Validation Split:</a:t>
            </a:r>
            <a:r>
              <a:rPr lang="en-US" sz="219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80% Training / 20% Validation.</a:t>
            </a:r>
          </a:p>
          <a:p>
            <a:pPr algn="just">
              <a:lnSpc>
                <a:spcPts val="3751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4153" y="-3884"/>
            <a:ext cx="12222920" cy="2259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7"/>
              </a:lnSpc>
            </a:pPr>
            <a:r>
              <a:rPr lang="en-US" sz="429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Nutrition Database, Portion Estimation &amp; Recommendation Engine</a:t>
            </a:r>
          </a:p>
          <a:p>
            <a:pPr algn="l">
              <a:lnSpc>
                <a:spcPts val="531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61834" y="1636545"/>
            <a:ext cx="10754854" cy="586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3079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Nutrition Database:</a:t>
            </a:r>
          </a:p>
          <a:p>
            <a:pPr algn="just" marL="388620" indent="-194310" lvl="1">
              <a:lnSpc>
                <a:spcPts val="3079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Curated from ICMR-NIN (Indian national institute). Covers all food classes with macros (calories, protein, fat, carbs) and micros (sodium, fibre, sugar).</a:t>
            </a:r>
          </a:p>
          <a:p>
            <a:pPr algn="just" marL="388620" indent="-194310" lvl="1">
              <a:lnSpc>
                <a:spcPts val="3079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Lookup: Fuzzy string matching to handle name variations (e.g., "Aloo Gobhi" vs "Aloo Gobi").</a:t>
            </a:r>
          </a:p>
          <a:p>
            <a:pPr algn="just" marL="388620" indent="-194310" lvl="1">
              <a:lnSpc>
                <a:spcPts val="3079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Portion Estimation (current limitation):</a:t>
            </a:r>
          </a:p>
          <a:p>
            <a:pPr algn="just" marL="388620" indent="-194310" lvl="1">
              <a:lnSpc>
                <a:spcPts val="3079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Bounding-box pixel area → converted to grams using a fixed reference ratio.</a:t>
            </a:r>
          </a:p>
          <a:p>
            <a:pPr algn="just" marL="388620" indent="-194310" lvl="1">
              <a:lnSpc>
                <a:spcPts val="3079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Issue: Assumes pixel area = portion weight; camera distance causes 25‑35% error.</a:t>
            </a:r>
          </a:p>
          <a:p>
            <a:pPr algn="just" marL="388620" indent="-194310" lvl="1">
              <a:lnSpc>
                <a:spcPts val="3079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Restriction Engine:</a:t>
            </a:r>
          </a:p>
          <a:p>
            <a:pPr algn="just" marL="388620" indent="-194310" lvl="1">
              <a:lnSpc>
                <a:spcPts val="3079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Rule‑based dictionary mapping </a:t>
            </a: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 health conditions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(diabetes, hypertension, obesity, etc.) to restricted foods.</a:t>
            </a:r>
          </a:p>
          <a:p>
            <a:pPr algn="just" marL="388620" indent="-194310" lvl="1">
              <a:lnSpc>
                <a:spcPts val="3079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Logic: If detected food matches a restricted item for the user’s condition → flag it.</a:t>
            </a:r>
          </a:p>
          <a:p>
            <a:pPr algn="just" marL="388620" indent="-194310" lvl="1">
              <a:lnSpc>
                <a:spcPts val="3079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Recommendation Engine:</a:t>
            </a:r>
          </a:p>
          <a:p>
            <a:pPr algn="just" marL="388620" indent="-194310" lvl="1">
              <a:lnSpc>
                <a:spcPts val="3079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Weighted scoring function S(f,d) penalizes excess sugar/sodium/calories based on condition.</a:t>
            </a:r>
          </a:p>
          <a:p>
            <a:pPr algn="just" marL="388620" indent="-194310" lvl="1">
              <a:lnSpc>
                <a:spcPts val="3079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Output: Top‑3 healthier swaps </a:t>
            </a:r>
          </a:p>
          <a:p>
            <a:pPr algn="just">
              <a:lnSpc>
                <a:spcPts val="3079"/>
              </a:lnSpc>
            </a:pPr>
          </a:p>
          <a:p>
            <a:pPr algn="just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5181" y="634212"/>
            <a:ext cx="12222920" cy="890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7"/>
              </a:lnSpc>
            </a:pPr>
            <a:r>
              <a:rPr lang="en-US" b="true" sz="4698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4207" y="2109463"/>
            <a:ext cx="10754854" cy="287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3250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Contributions:</a:t>
            </a:r>
          </a:p>
          <a:p>
            <a:pPr algn="just" marL="410209" indent="-205105" lvl="1">
              <a:lnSpc>
                <a:spcPts val="3250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Merged &amp; cleaned Indian food detection dataset.</a:t>
            </a:r>
          </a:p>
          <a:p>
            <a:pPr algn="just" marL="410209" indent="-205105" lvl="1">
              <a:lnSpc>
                <a:spcPts val="3250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Trained YOLOv8n model achieving </a:t>
            </a:r>
            <a:r>
              <a:rPr lang="en-US" b="true" sz="18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74.3% mAP@50</a:t>
            </a:r>
            <a:r>
              <a:rPr lang="en-US" sz="18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 marL="410209" indent="-205105" lvl="1">
              <a:lnSpc>
                <a:spcPts val="3250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Built a rule-based engine covering 20 health conditions with </a:t>
            </a:r>
            <a:r>
              <a:rPr lang="en-US" b="true" sz="18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 swap improvement</a:t>
            </a:r>
            <a:r>
              <a:rPr lang="en-US" sz="18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 marL="410209" indent="-205105" lvl="1">
              <a:lnSpc>
                <a:spcPts val="3250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Main Takeaway:</a:t>
            </a:r>
            <a:r>
              <a:rPr lang="en-US" sz="18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Vision-language integration is feasible for Indian diets, but </a:t>
            </a:r>
            <a:r>
              <a:rPr lang="en-US" b="true" sz="18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portion estimation remains the primary open challenge</a:t>
            </a:r>
            <a:r>
              <a:rPr lang="en-US" sz="18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for accurate dietary coaching.</a:t>
            </a:r>
          </a:p>
          <a:p>
            <a:pPr algn="just">
              <a:lnSpc>
                <a:spcPts val="325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30920" y="2130837"/>
            <a:ext cx="12222920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Thankyou :)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DAHMMazh9JM</dc:identifier>
  <dcterms:modified xsi:type="dcterms:W3CDTF">2011-08-01T06:04:30Z</dcterms:modified>
  <cp:revision>1</cp:revision>
  <dc:title>Slide_Template_for_video (1).pdf</dc:title>
</cp:coreProperties>
</file>